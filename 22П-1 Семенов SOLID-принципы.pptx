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60" r:id="rId4"/>
    <p:sldId id="263" r:id="rId5"/>
    <p:sldId id="264" r:id="rId6"/>
    <p:sldId id="265" r:id="rId7"/>
    <p:sldId id="266" r:id="rId8"/>
    <p:sldId id="267" r:id="rId9"/>
    <p:sldId id="271" r:id="rId10"/>
    <p:sldId id="272" r:id="rId11"/>
    <p:sldId id="273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5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29A9B-4351-4D86-BD9C-43FE8265DCB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C7239-F2D1-4CF7-A05D-341A57718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957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803B2-73B5-45CF-A4C8-F0B7BE9F4536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287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A13C-12C6-43AF-8DBB-5332C33610CF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019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EC162-D48C-49A4-BAF9-8D425C0C10F7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35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EEA2B-0FB4-401A-9B98-1A0B2D5C107F}" type="datetime1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75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7B00-D0DC-4580-B8D5-443F73B4D9C4}" type="datetime1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59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8240-9B25-47A8-B7D3-CBBA33E28C7E}" type="datetime1">
              <a:rPr lang="ru-RU" smtClean="0"/>
              <a:t>04.03.2026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53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59EB-BF37-441C-BA89-B06AC5EACB1D}" type="datetime1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53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A20B478-30CD-4C4D-8DE8-9961C810F67E}" type="datetime1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64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68B59-7088-4F2B-B6FE-5C8F57F98634}" type="datetime1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42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E6E9-A04E-447C-B4C7-2E835A738202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419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24E9-AA28-4F75-942B-B7CBC48012AC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07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54268FE-4E6D-41AE-AC0B-8B3F879EEBBF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694CD7A-FC2C-4C8B-B510-BF083CC6A3D6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88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96FCA-2097-F310-2A52-13144FB00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2715768"/>
            <a:ext cx="10058400" cy="1609344"/>
          </a:xfrm>
        </p:spPr>
        <p:txBody>
          <a:bodyPr>
            <a:normAutofit/>
          </a:bodyPr>
          <a:lstStyle/>
          <a:p>
            <a:r>
              <a:rPr lang="ru-RU" sz="7200" dirty="0" err="1"/>
              <a:t>SOLID</a:t>
            </a:r>
            <a:r>
              <a:rPr lang="ru-RU" sz="7200" dirty="0"/>
              <a:t>–принципы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381B9F-EDE8-0632-9766-2AA162E5E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ru-RU" sz="2400" dirty="0"/>
              <a:t>Студент группы</a:t>
            </a:r>
            <a:r>
              <a:rPr lang="ru-RU" dirty="0"/>
              <a:t> </a:t>
            </a:r>
            <a:r>
              <a:rPr lang="ru-RU" sz="2400" dirty="0" err="1"/>
              <a:t>22П</a:t>
            </a:r>
            <a:r>
              <a:rPr lang="ru-RU" sz="2400" dirty="0"/>
              <a:t>-1</a:t>
            </a:r>
            <a:r>
              <a:rPr lang="en-US" sz="2400" dirty="0"/>
              <a:t>:</a:t>
            </a:r>
            <a:r>
              <a:rPr lang="ru-RU" sz="2400" dirty="0"/>
              <a:t> Семенов </a:t>
            </a:r>
            <a:r>
              <a:rPr lang="ru-RU" sz="2400" dirty="0" err="1"/>
              <a:t>М.В</a:t>
            </a:r>
            <a:r>
              <a:rPr lang="ru-RU" sz="2400" dirty="0"/>
              <a:t>.</a:t>
            </a:r>
          </a:p>
          <a:p>
            <a:pPr algn="l"/>
            <a:r>
              <a:rPr lang="ru-RU" sz="2400" dirty="0"/>
              <a:t>Преподаватель</a:t>
            </a:r>
            <a:r>
              <a:rPr lang="en-US" sz="2400" dirty="0"/>
              <a:t>:</a:t>
            </a:r>
            <a:r>
              <a:rPr lang="ru-RU" sz="2400" dirty="0"/>
              <a:t> Набиева </a:t>
            </a:r>
            <a:r>
              <a:rPr lang="ru-RU" sz="2400" dirty="0" err="1"/>
              <a:t>л.р</a:t>
            </a:r>
            <a:r>
              <a:rPr lang="ru-RU" sz="2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0B6F3-FCC5-5028-BE4C-6DD35AFD69E6}"/>
              </a:ext>
            </a:extLst>
          </p:cNvPr>
          <p:cNvSpPr txBox="1"/>
          <p:nvPr/>
        </p:nvSpPr>
        <p:spPr>
          <a:xfrm>
            <a:off x="5125212" y="5729128"/>
            <a:ext cx="1941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Уфа –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BF502-AD20-B68F-2E44-6F8A3B8FD634}"/>
              </a:ext>
            </a:extLst>
          </p:cNvPr>
          <p:cNvSpPr txBox="1"/>
          <p:nvPr/>
        </p:nvSpPr>
        <p:spPr>
          <a:xfrm>
            <a:off x="0" y="28346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cap="all" spc="200" dirty="0">
                <a:solidFill>
                  <a:schemeClr val="tx2"/>
                </a:solidFill>
                <a:latin typeface="+mj-lt"/>
              </a:rPr>
              <a:t>Министерство просвещения Республики Башкортостан</a:t>
            </a:r>
          </a:p>
          <a:p>
            <a:pPr algn="ctr"/>
            <a:r>
              <a:rPr lang="ru-RU" sz="1600" cap="all" spc="200" dirty="0">
                <a:solidFill>
                  <a:schemeClr val="tx2"/>
                </a:solidFill>
                <a:latin typeface="+mj-lt"/>
              </a:rPr>
              <a:t>Государственное автономное профессиональное образовательное учреждение Уфимский колледж статистики, информатики и вычислительной техники</a:t>
            </a:r>
          </a:p>
        </p:txBody>
      </p:sp>
    </p:spTree>
    <p:extLst>
      <p:ext uri="{BB962C8B-B14F-4D97-AF65-F5344CB8AC3E}">
        <p14:creationId xmlns:p14="http://schemas.microsoft.com/office/powerpoint/2010/main" val="2072360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1DAB0-4C39-6AAF-6E7F-9E8ECB67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F56BF6-EF66-4754-A512-009E86136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12848"/>
            <a:ext cx="10058400" cy="3656246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Узнать что такое принципы проектирования</a:t>
            </a:r>
            <a:r>
              <a:rPr lang="en-US" dirty="0"/>
              <a:t>;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Узнать что такое </a:t>
            </a:r>
            <a:r>
              <a:rPr lang="en-US" dirty="0"/>
              <a:t>SOLID</a:t>
            </a:r>
            <a:r>
              <a:rPr lang="ru-RU" dirty="0"/>
              <a:t>–принципы</a:t>
            </a:r>
            <a:r>
              <a:rPr lang="en-US" dirty="0"/>
              <a:t>;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Узнать какие принципы входят в </a:t>
            </a:r>
            <a:r>
              <a:rPr lang="en-US" dirty="0"/>
              <a:t>SOLID</a:t>
            </a:r>
            <a:r>
              <a:rPr lang="ru-RU" dirty="0"/>
              <a:t>, их отличия и примеры на практике.</a:t>
            </a:r>
            <a:endParaRPr lang="en-US" dirty="0"/>
          </a:p>
          <a:p>
            <a:pPr algn="just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CCE922-6882-EE1D-5887-D8EC0AF5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97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1C1D5-8D66-58B2-CF18-99842A1FC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принципы проектирования</a:t>
            </a:r>
            <a:r>
              <a:rPr lang="en-US" dirty="0"/>
              <a:t>?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D8BCD4-1870-D15E-BDDB-47F9FE432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ru-RU" dirty="0"/>
              <a:t>Принципы проектирования охватывают фундаментальные правила создания надежных систем, направленные на снижение сложности, гибкость повторное использование</a:t>
            </a:r>
            <a:r>
              <a:rPr lang="en-US" dirty="0"/>
              <a:t> </a:t>
            </a:r>
            <a:r>
              <a:rPr lang="ru-RU" dirty="0"/>
              <a:t>и т.п. К основным видам относятся архитектурные паттерны (</a:t>
            </a:r>
            <a:r>
              <a:rPr lang="ru-RU" dirty="0" err="1"/>
              <a:t>SOLID</a:t>
            </a:r>
            <a:r>
              <a:rPr lang="ru-RU" dirty="0"/>
              <a:t>, </a:t>
            </a:r>
            <a:r>
              <a:rPr lang="ru-RU" dirty="0" err="1"/>
              <a:t>GRASP</a:t>
            </a:r>
            <a:r>
              <a:rPr lang="ru-RU" dirty="0"/>
              <a:t>) и подходы (KISS, </a:t>
            </a:r>
            <a:r>
              <a:rPr lang="ru-RU" dirty="0" err="1"/>
              <a:t>DRY</a:t>
            </a:r>
            <a:r>
              <a:rPr lang="ru-RU" dirty="0"/>
              <a:t>, </a:t>
            </a:r>
            <a:r>
              <a:rPr lang="ru-RU" dirty="0" err="1"/>
              <a:t>YAGNI</a:t>
            </a:r>
            <a:r>
              <a:rPr lang="ru-RU" dirty="0"/>
              <a:t>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3054A9-8465-33D5-ACFD-F47641D9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42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D59D2-3612-95DD-C4F1-0A8E6F010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 (</a:t>
            </a:r>
            <a:r>
              <a:rPr lang="ru-RU" dirty="0"/>
              <a:t>объектно-ориентированное проектирование)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95300D-DC59-6DB5-858D-DA81C0C37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62686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Принципы </a:t>
            </a:r>
            <a:r>
              <a:rPr lang="ru-RU" dirty="0" err="1"/>
              <a:t>SOLID</a:t>
            </a:r>
            <a:r>
              <a:rPr lang="ru-RU" dirty="0"/>
              <a:t> – это пять правил объектно-ориентированного проектирования, которые помогают делать код понятным, гибким и легким в поддержке. Их цель – избежать «хрупкости» кода, когда изменение одной части ломает другую, и упростить развитие проектов. Они позволяют создавать архитектуру, которую легко читать и дорабатывать.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Виды</a:t>
            </a:r>
            <a:r>
              <a:rPr lang="en-US" dirty="0"/>
              <a:t> </a:t>
            </a:r>
            <a:r>
              <a:rPr lang="ru-RU" dirty="0" err="1"/>
              <a:t>SOLID</a:t>
            </a:r>
            <a:r>
              <a:rPr lang="ru-RU" dirty="0"/>
              <a:t> – принципов</a:t>
            </a:r>
            <a:r>
              <a:rPr lang="en-US" dirty="0"/>
              <a:t>:</a:t>
            </a:r>
            <a:endParaRPr lang="ru-RU" dirty="0"/>
          </a:p>
          <a:p>
            <a:pPr marL="1800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 – Single Responsibility Principle(</a:t>
            </a:r>
            <a:r>
              <a:rPr lang="en-US" dirty="0" err="1"/>
              <a:t>SRP</a:t>
            </a:r>
            <a:r>
              <a:rPr lang="en-US" dirty="0"/>
              <a:t>);</a:t>
            </a:r>
          </a:p>
          <a:p>
            <a:pPr marL="1800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O – Open/Closed Principle(</a:t>
            </a:r>
            <a:r>
              <a:rPr lang="en-US" dirty="0" err="1"/>
              <a:t>OCP</a:t>
            </a:r>
            <a:r>
              <a:rPr lang="en-US" dirty="0"/>
              <a:t>);</a:t>
            </a:r>
          </a:p>
          <a:p>
            <a:pPr marL="1800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L – </a:t>
            </a:r>
            <a:r>
              <a:rPr lang="en-US" dirty="0" err="1"/>
              <a:t>Liskov</a:t>
            </a:r>
            <a:r>
              <a:rPr lang="en-US" dirty="0"/>
              <a:t> Substitution Principle(</a:t>
            </a:r>
            <a:r>
              <a:rPr lang="en-US" dirty="0" err="1"/>
              <a:t>LSP</a:t>
            </a:r>
            <a:r>
              <a:rPr lang="en-US" dirty="0"/>
              <a:t>);</a:t>
            </a:r>
          </a:p>
          <a:p>
            <a:pPr marL="1800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I – Interface Segregation Principle(ISP);</a:t>
            </a:r>
          </a:p>
          <a:p>
            <a:pPr marL="1800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D – Dependency Inversion Principle(DIP).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451DBD-DC27-443B-03D0-5CDC59B5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049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1D38F-13AB-51C1-9087-CE558519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Responsibility Principle(</a:t>
            </a:r>
            <a:r>
              <a:rPr lang="en-US" dirty="0" err="1"/>
              <a:t>SRP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90DFFD-720E-9F0A-54BE-0FF5D1A06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SRP</a:t>
            </a:r>
            <a:r>
              <a:rPr lang="ru-RU" dirty="0"/>
              <a:t> (Принцип единственной ответственности): Класс должен иметь только одну причину для изменения, то есть отвечать только за одну конкретную задачу. Но если есть схожие для изменения вещи они должны храниться в одном месте.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 err="1"/>
              <a:t>SRP</a:t>
            </a:r>
            <a:r>
              <a:rPr lang="ru-RU" dirty="0"/>
              <a:t> не только требует "дробить пока дробится", но и не перестараться — "не раздробить сцепленные вещи". Не усложнять без надобности.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A1BD28-F4F5-48FA-98B4-0043B7DA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44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DC24B-9A03-3029-F7D8-A7ED82864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 соблюдения </a:t>
            </a:r>
            <a:r>
              <a:rPr lang="en-US" dirty="0" err="1"/>
              <a:t>SRP</a:t>
            </a:r>
            <a:r>
              <a:rPr lang="en-US" dirty="0"/>
              <a:t>(C#)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60B8737-8B62-61D8-D144-BF2A1E655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1744" y="1846263"/>
            <a:ext cx="6528837" cy="4022725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CEF1929-E9AD-C067-0393-403FC42C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213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DC24B-9A03-3029-F7D8-A7ED82864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соблюдения </a:t>
            </a:r>
            <a:r>
              <a:rPr lang="en-US" dirty="0" err="1"/>
              <a:t>SRP</a:t>
            </a:r>
            <a:r>
              <a:rPr lang="en-US" dirty="0"/>
              <a:t>(C#)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0D4585-FC42-9855-AE74-B87CEE22E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35" y="1869804"/>
            <a:ext cx="5553850" cy="20576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1EC406-7D18-B1A9-68C8-DF3939D21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22" y="3995386"/>
            <a:ext cx="5039428" cy="230537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72AAFC1-707A-F572-819F-5599D8177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985" y="4770203"/>
            <a:ext cx="6344535" cy="142894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EF26646-08DF-9022-10EB-FB195E1B28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8252" y="1773936"/>
            <a:ext cx="3096057" cy="144800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04B30E4-4091-2E15-B2D0-80958E933C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495" y="3276148"/>
            <a:ext cx="3077004" cy="143847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3EA7129-B5B6-83CF-8272-15EB5C26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905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DC24B-9A03-3029-F7D8-A7ED82864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соблюдения </a:t>
            </a:r>
            <a:r>
              <a:rPr lang="en-US" dirty="0" err="1"/>
              <a:t>SRP</a:t>
            </a:r>
            <a:r>
              <a:rPr lang="en-US" dirty="0"/>
              <a:t>(C#)</a:t>
            </a:r>
            <a:endParaRPr lang="ru-RU" dirty="0"/>
          </a:p>
        </p:txBody>
      </p:sp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02D71649-56A7-008C-286B-3552EAD7C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688" y="1783080"/>
            <a:ext cx="8101584" cy="4530638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692352-D14E-E744-FE45-988A4E94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24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4F079D-F2EF-ACBE-0557-331E0F2F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Open/Closed Principle(</a:t>
            </a:r>
            <a:r>
              <a:rPr lang="en-US" dirty="0" err="1"/>
              <a:t>OCP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FE7D9A-985C-661C-AB61-99234B328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OCP</a:t>
            </a:r>
            <a:r>
              <a:rPr lang="en-US" dirty="0"/>
              <a:t>(</a:t>
            </a:r>
            <a:r>
              <a:rPr lang="ru-RU" dirty="0"/>
              <a:t>Принцип открытости/закрытости</a:t>
            </a:r>
            <a:r>
              <a:rPr lang="en-US" dirty="0"/>
              <a:t>):</a:t>
            </a:r>
            <a:r>
              <a:rPr lang="ru-RU" dirty="0"/>
              <a:t> программные сущности (классы, модули, функции) должны быть открыты для расширения, но закрыты для изменения. Это означает, что новый функционал добавляется путем создания нового кода, а не редактирования уже существующего и протестированного.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E756BF-C33B-6C3F-9D54-C34EB521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55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DC24B-9A03-3029-F7D8-A7ED82864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 соблюдения </a:t>
            </a:r>
            <a:r>
              <a:rPr lang="en-US" dirty="0" err="1"/>
              <a:t>OCP</a:t>
            </a:r>
            <a:r>
              <a:rPr lang="en-US" dirty="0"/>
              <a:t>(C#)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F624468-97F5-00F1-ABA2-263323344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9680" y="2374203"/>
            <a:ext cx="5200232" cy="2591362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9501150-B480-4183-F1CD-A5F5D24A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1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DC24B-9A03-3029-F7D8-A7ED82864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соблюдения </a:t>
            </a:r>
            <a:r>
              <a:rPr lang="en-US" dirty="0" err="1"/>
              <a:t>OCP</a:t>
            </a:r>
            <a:r>
              <a:rPr lang="en-US" dirty="0"/>
              <a:t>(C#)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185932A4-6AFA-F28A-6749-67B7293F25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49111" y="2959843"/>
            <a:ext cx="4536114" cy="1795144"/>
          </a:xfrm>
        </p:spPr>
      </p:pic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DA0125A0-65CF-4ADD-E446-DCB6EA1865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68100" y="2785335"/>
            <a:ext cx="3921820" cy="2030446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1026F6D-9073-569E-BD89-123BAE42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059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4F079D-F2EF-ACBE-0557-331E0F2F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Principle(</a:t>
            </a:r>
            <a:r>
              <a:rPr lang="en-US" dirty="0" err="1"/>
              <a:t>LSP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FE7D9A-985C-661C-AB61-99234B328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LSP</a:t>
            </a:r>
            <a:r>
              <a:rPr lang="en-US" dirty="0"/>
              <a:t>(</a:t>
            </a:r>
            <a:r>
              <a:rPr lang="ru-RU" dirty="0"/>
              <a:t>Принцип подстановки Барбары Лисков</a:t>
            </a:r>
            <a:r>
              <a:rPr lang="en-US" dirty="0"/>
              <a:t>):</a:t>
            </a:r>
            <a:r>
              <a:rPr lang="ru-RU" dirty="0"/>
              <a:t> функции, использующие базовый тип, должны уметь работать с его подтипами, не зная об этом. Подклассы не должны нарушать поведение базового класса.</a:t>
            </a:r>
          </a:p>
          <a:p>
            <a:pPr>
              <a:lnSpc>
                <a:spcPct val="150000"/>
              </a:lnSpc>
            </a:pPr>
            <a:r>
              <a:rPr lang="ru-RU" dirty="0"/>
              <a:t>Главные признаки нарушения LSP</a:t>
            </a:r>
            <a:r>
              <a:rPr lang="en-US" dirty="0"/>
              <a:t>:</a:t>
            </a:r>
            <a:endParaRPr lang="ru-RU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ru-RU" dirty="0"/>
              <a:t>Пустые методы: Вы переопределили метод родителя, но он ничего не делает (потому что подклассу это не нужно)</a:t>
            </a:r>
            <a:r>
              <a:rPr lang="en-US" dirty="0"/>
              <a:t>;</a:t>
            </a:r>
            <a:endParaRPr lang="ru-RU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ru-RU" dirty="0"/>
              <a:t>Выбрасывание исключений там, где их нет у родителя</a:t>
            </a:r>
            <a:r>
              <a:rPr lang="en-US" dirty="0"/>
              <a:t>;</a:t>
            </a:r>
            <a:endParaRPr lang="ru-RU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ru-RU" dirty="0"/>
              <a:t>Проверка типа: Если внутри функции вам приходится проверять, какой именно подтип вам пришел, чтобы выполнить разные действия </a:t>
            </a:r>
            <a:r>
              <a:rPr lang="en-US" dirty="0"/>
              <a:t>–</a:t>
            </a:r>
            <a:r>
              <a:rPr lang="ru-RU" dirty="0"/>
              <a:t> это верный признак нарушения LSP.</a:t>
            </a:r>
          </a:p>
          <a:p>
            <a:pPr>
              <a:lnSpc>
                <a:spcPct val="150000"/>
              </a:lnSpc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9F31DB-5AC4-CEDD-A19A-DA60609AB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791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98C69-75A4-B769-2C8C-8DDEF20D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 соблюдения </a:t>
            </a:r>
            <a:r>
              <a:rPr lang="en-US" dirty="0" err="1"/>
              <a:t>LSP</a:t>
            </a:r>
            <a:r>
              <a:rPr lang="en-US" dirty="0"/>
              <a:t>(C#)</a:t>
            </a:r>
            <a:endParaRPr lang="ru-RU" dirty="0"/>
          </a:p>
        </p:txBody>
      </p:sp>
      <p:pic>
        <p:nvPicPr>
          <p:cNvPr id="17" name="Рисунок 16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4389BC-BB07-7653-6B48-A0A3CDB33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351" y="613969"/>
            <a:ext cx="2648320" cy="5630061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5D4CC4-4872-E386-FA54-CE57B1E58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852" y="2080666"/>
            <a:ext cx="4001058" cy="38200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BBA788C-A736-D3C0-98C9-D5FBB851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95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98C69-75A4-B769-2C8C-8DDEF20D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соблюдения </a:t>
            </a:r>
            <a:r>
              <a:rPr lang="en-US" dirty="0" err="1"/>
              <a:t>LSP</a:t>
            </a:r>
            <a:r>
              <a:rPr lang="en-US" dirty="0"/>
              <a:t>(C#)</a:t>
            </a:r>
            <a:endParaRPr lang="ru-RU" dirty="0"/>
          </a:p>
        </p:txBody>
      </p:sp>
      <p:pic>
        <p:nvPicPr>
          <p:cNvPr id="5" name="Объект 4" descr="Изображение выглядит как текст, Шриф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F47048F-013D-BE5D-1DED-008DB866A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360" y="3166996"/>
            <a:ext cx="2651024" cy="1193654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F17AA4-5675-47FD-83FC-C9A3B0A72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477" y="191991"/>
            <a:ext cx="3115110" cy="5925377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1F6620-DD24-7F08-EC6F-D7582FE64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1831972"/>
            <a:ext cx="2794769" cy="439832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86A8DC7-D76F-DAC4-3B84-A6DD4A8F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533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60C1E-53A3-AB94-80CB-6ADAB1E2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Segregation Principle(ISP)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70793D-EDF2-E679-02F7-25FFA77CF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Принцип разделения интерфейса (ISP): «Клиенты не должны зависеть от методов, которые они не используют». Вместо одного толстого интерфейса нужно создавать несколько маленьких, специализированных, чтобы код оставался гибким, понятным и его было легко поддерживать.</a:t>
            </a:r>
            <a:endParaRPr lang="en-US" dirty="0"/>
          </a:p>
          <a:p>
            <a:r>
              <a:rPr lang="ru-RU" dirty="0"/>
              <a:t>Интерфейсы должны быть максимально узкими (сплоченными), объединяя методы только для одной конкретной функциональности.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D7F013-7CFB-156E-F5D3-3CD7D922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541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D6C42-3A1A-8EB9-3BA3-E058804E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 соблюдения </a:t>
            </a:r>
            <a:r>
              <a:rPr lang="en-US" dirty="0"/>
              <a:t>ISP</a:t>
            </a:r>
            <a:r>
              <a:rPr lang="ru-RU" dirty="0"/>
              <a:t>(C#)</a:t>
            </a: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4C8B6F6-DEE7-CC75-E5AA-3F17C816B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203" y="2331149"/>
            <a:ext cx="4252547" cy="3134669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46E0A43-00F2-586B-C8A0-1F5EDE2F9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490" y="2882495"/>
            <a:ext cx="2559762" cy="2031976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59378B-F21B-53FE-8983-015D00F0A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186" y="2331149"/>
            <a:ext cx="3534268" cy="311511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71F9ED5-4E03-F676-63D6-F4CB666B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175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CDB66-5DFD-6554-C015-490D703D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020288-2057-2573-50F5-92935F788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соблюдения </a:t>
            </a:r>
            <a:r>
              <a:rPr lang="en-US" dirty="0"/>
              <a:t>ISP</a:t>
            </a:r>
            <a:r>
              <a:rPr lang="ru-RU" dirty="0"/>
              <a:t>(C#)</a:t>
            </a:r>
          </a:p>
        </p:txBody>
      </p:sp>
      <p:pic>
        <p:nvPicPr>
          <p:cNvPr id="11" name="Рисунок 10" descr="Изображение выглядит как текст, Шриф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E7841C-E6B4-1E7B-176B-56FEED520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51" y="2139697"/>
            <a:ext cx="1940577" cy="991614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Шриф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0200228-D46C-3D47-A50E-3CC8E14F1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09" y="3429000"/>
            <a:ext cx="2159859" cy="896112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Шриф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5E18AC-BB0E-6609-9E95-03829D727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622801"/>
            <a:ext cx="2259079" cy="973327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833ED1-70E6-7F6F-5D53-9D7B54B86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161" y="2635504"/>
            <a:ext cx="3553321" cy="2286319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155643-486D-D9F9-119A-6EC1C37397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7284" y="2230634"/>
            <a:ext cx="3648584" cy="309605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1888204-F145-9395-6B51-AC7DF951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928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525047-B29D-BB6D-556A-D4F6EDFB4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Inversion Principle(DIP)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17C6B-23AA-BDB7-3E59-6E77F41C6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Принцип инверсии зависимостей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DIP</a:t>
            </a:r>
            <a:r>
              <a:rPr lang="ru-RU" dirty="0"/>
              <a:t>)</a:t>
            </a:r>
            <a:r>
              <a:rPr lang="en-US" dirty="0"/>
              <a:t>: </a:t>
            </a:r>
            <a:r>
              <a:rPr lang="ru-RU" dirty="0"/>
              <a:t>модули верхних уровней не должны зависеть от модулей нижних уровней; оба типа модулей должны зависеть от абстракций (интерфейсов)а не деталей.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Модули верхних уровней не должны зависеть от модулей нижних уровней. Оба типа модулей должны зависеть от абстракций.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Абстракции не должны зависеть от деталей. Детали должны зависеть от абстракций.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CD0DAC-1D18-4CFD-D503-48C382EE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095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6854-7AB0-9251-D554-091F7B24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3433B-ABCD-3C8F-0AC2-051B02BE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 соблюдения </a:t>
            </a:r>
            <a:r>
              <a:rPr lang="en-US" dirty="0"/>
              <a:t>DIP</a:t>
            </a:r>
            <a:r>
              <a:rPr lang="ru-RU" dirty="0"/>
              <a:t>(C#)</a:t>
            </a:r>
          </a:p>
        </p:txBody>
      </p:sp>
      <p:pic>
        <p:nvPicPr>
          <p:cNvPr id="17" name="Рисунок 1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0AC7C1-B9E9-8C32-86CB-591DC7F4E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410929"/>
            <a:ext cx="3572374" cy="1419423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5CB769-5166-2FDF-FA48-FB7706576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51" y="2119846"/>
            <a:ext cx="4458322" cy="1419423"/>
          </a:xfrm>
          <a:prstGeom prst="rect">
            <a:avLst/>
          </a:prstGeom>
        </p:spPr>
      </p:pic>
      <p:pic>
        <p:nvPicPr>
          <p:cNvPr id="25" name="Рисунок 24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C9DDF0-0CF1-E164-25EE-F0B19E806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776" y="2991633"/>
            <a:ext cx="4401164" cy="2981741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712966-6DE8-5081-05F7-CB3AE18BBA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289" y="1923840"/>
            <a:ext cx="4334480" cy="301032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2D710AC-63C7-72AC-4197-80D46CE0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01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E22F-8004-6453-2DD7-0CF6CAE30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8255E-4110-616D-B559-C5FC03B9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соблюдения </a:t>
            </a:r>
            <a:r>
              <a:rPr lang="en-US" dirty="0"/>
              <a:t>DIP</a:t>
            </a:r>
            <a:r>
              <a:rPr lang="ru-RU" dirty="0"/>
              <a:t>(C#)</a:t>
            </a:r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037549-5359-F1DC-85B6-024EE19A8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34" y="2219554"/>
            <a:ext cx="3600953" cy="1457528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E7CCE2-D6A1-785D-B3DB-24020965C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085" y="4076981"/>
            <a:ext cx="4467849" cy="1428949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799B65-1BF5-ADB8-062E-41766B428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68" y="2219554"/>
            <a:ext cx="4334480" cy="301032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D92BD49-8E24-7F9E-86B3-AD905E4C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394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E1590F-B546-48D2-0FB6-5BAE77BE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Отличия принципов SOLID: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E190BF-C557-B645-78D5-0721E9455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480560"/>
          </a:xfrm>
        </p:spPr>
        <p:txBody>
          <a:bodyPr anchor="ctr">
            <a:normAutofit/>
          </a:bodyPr>
          <a:lstStyle/>
          <a:p>
            <a:r>
              <a:rPr lang="ru-RU" dirty="0"/>
              <a:t>S</a:t>
            </a:r>
            <a:r>
              <a:rPr lang="en-US" dirty="0"/>
              <a:t>RP </a:t>
            </a:r>
            <a:r>
              <a:rPr lang="ru-RU" dirty="0"/>
              <a:t>(Принцип единственной ответственности): фокусируется на связности внутри класса не на его взаимодействии с другими.</a:t>
            </a:r>
          </a:p>
          <a:p>
            <a:r>
              <a:rPr lang="ru-RU" dirty="0"/>
              <a:t>O</a:t>
            </a:r>
            <a:r>
              <a:rPr lang="en-US" dirty="0"/>
              <a:t>CP </a:t>
            </a:r>
            <a:r>
              <a:rPr lang="ru-RU" dirty="0"/>
              <a:t>(Принцип открытости/закрытости): фокусируется на возможности добавления функционала без разрушения рабочего кода.</a:t>
            </a:r>
          </a:p>
          <a:p>
            <a:r>
              <a:rPr lang="ru-RU" dirty="0"/>
              <a:t>L</a:t>
            </a:r>
            <a:r>
              <a:rPr lang="en-US" dirty="0"/>
              <a:t>SP</a:t>
            </a:r>
            <a:r>
              <a:rPr lang="ru-RU" dirty="0"/>
              <a:t> (Принцип подстановки Барбары Лисков): фокусируется на правильном наследовании и поведении подтипов.</a:t>
            </a:r>
          </a:p>
          <a:p>
            <a:r>
              <a:rPr lang="ru-RU" dirty="0"/>
              <a:t>I</a:t>
            </a:r>
            <a:r>
              <a:rPr lang="en-US" dirty="0"/>
              <a:t>SP</a:t>
            </a:r>
            <a:r>
              <a:rPr lang="ru-RU" dirty="0"/>
              <a:t> (Принцип разделения интерфейсов): фокусируется на устранении ненужных зависимостей</a:t>
            </a:r>
            <a:r>
              <a:rPr lang="en-US" dirty="0"/>
              <a:t> </a:t>
            </a:r>
            <a:r>
              <a:rPr lang="ru-RU" dirty="0"/>
              <a:t>разбивая большие интерфейсы.</a:t>
            </a:r>
          </a:p>
          <a:p>
            <a:r>
              <a:rPr lang="ru-RU" dirty="0"/>
              <a:t>D</a:t>
            </a:r>
            <a:r>
              <a:rPr lang="en-US" dirty="0"/>
              <a:t>IP</a:t>
            </a:r>
            <a:r>
              <a:rPr lang="ru-RU" dirty="0"/>
              <a:t> (Принцип инверсии зависимостей): фокусируется на уменьшении связанности между компонентами.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2804D2-E81F-687C-E8D1-72BA55A0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CD7A-FC2C-4C8B-B510-BF083CC6A3D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711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5FE8D02-B7DF-52BF-08B9-81E691CD6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80360"/>
            <a:ext cx="12192000" cy="1444752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99032052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457</TotalTime>
  <Words>760</Words>
  <Application>Microsoft Office PowerPoint</Application>
  <PresentationFormat>Широкоэкранный</PresentationFormat>
  <Paragraphs>76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Aptos</vt:lpstr>
      <vt:lpstr>Calibri</vt:lpstr>
      <vt:lpstr>Calibri Light</vt:lpstr>
      <vt:lpstr>Ретро</vt:lpstr>
      <vt:lpstr>SOLID–принципы</vt:lpstr>
      <vt:lpstr>Цели</vt:lpstr>
      <vt:lpstr>Что такое принципы проектирования? </vt:lpstr>
      <vt:lpstr>SOLID (объектно-ориентированное проектирование)</vt:lpstr>
      <vt:lpstr>Single Responsibility Principle(SRP)</vt:lpstr>
      <vt:lpstr>Пример не соблюдения SRP(C#)</vt:lpstr>
      <vt:lpstr>Пример соблюдения SRP(C#)</vt:lpstr>
      <vt:lpstr>Пример соблюдения SRP(C#)</vt:lpstr>
      <vt:lpstr>Open/Closed Principle(OCP)</vt:lpstr>
      <vt:lpstr>Пример не соблюдения OCP(C#)</vt:lpstr>
      <vt:lpstr>Пример соблюдения OCP(C#)</vt:lpstr>
      <vt:lpstr>Liskov Substitution Principle(LSP)</vt:lpstr>
      <vt:lpstr>Пример не соблюдения LSP(C#)</vt:lpstr>
      <vt:lpstr>Пример соблюдения LSP(C#)</vt:lpstr>
      <vt:lpstr>Interface Segregation Principle(ISP)</vt:lpstr>
      <vt:lpstr>Пример не соблюдения ISP(C#)</vt:lpstr>
      <vt:lpstr>Пример соблюдения ISP(C#)</vt:lpstr>
      <vt:lpstr>Dependency Inversion Principle(DIP)</vt:lpstr>
      <vt:lpstr>Пример не соблюдения DIP(C#)</vt:lpstr>
      <vt:lpstr>Пример соблюдения DIP(C#)</vt:lpstr>
      <vt:lpstr>Отличия принципов SOLID: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Матвей Семенов</dc:creator>
  <cp:lastModifiedBy>Матвей Семенов</cp:lastModifiedBy>
  <cp:revision>166</cp:revision>
  <dcterms:created xsi:type="dcterms:W3CDTF">2026-02-16T14:13:55Z</dcterms:created>
  <dcterms:modified xsi:type="dcterms:W3CDTF">2026-03-04T03:31:09Z</dcterms:modified>
</cp:coreProperties>
</file>